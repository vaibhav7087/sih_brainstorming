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MPLADS AI Sentinel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Anomaly, Fraud &amp; Inefficiency Detection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MPLAD Scheme Implementation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3200400" cy="9144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D9775"/>
                </a:solidFill>
              </a:rPr>
              <a:t>Problem Statement 26102</a:t>
            </a:r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</a:rPr>
              <a:t>MoSPI / DIID</a:t>
            </a:r>
            <a:pPr indent="0" marL="0">
              <a:buNone/>
            </a:pPr>
            <a:r>
              <a:rPr lang="en-US" sz="1300" dirty="0">
                <a:solidFill>
                  <a:srgbClr val="57534E"/>
                </a:solidFill>
              </a:rPr>
              <a:t>  |  </a:t>
            </a:r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</a:rPr>
              <a:t>Smart Automation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6D9775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tracks WHAT happened but cannot detect WHAT IS WRONG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508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₹161 Cr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Unsupported expenditure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by CAG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06040" y="1371600"/>
            <a:ext cx="18745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508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98.53%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 no handover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(ghost assets)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18745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63440" y="1508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63440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rate across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1.43 lakh works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720840" y="1371600"/>
            <a:ext cx="1874520" cy="1463040"/>
          </a:xfrm>
          <a:prstGeom prst="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20840" y="1508760"/>
            <a:ext cx="1874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720840" y="2103120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detection systems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exist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108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Gaps in Current System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3520440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No Anomaly Detection</a:t>
            </a:r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</a:rPr>
              <a:t> — Suspicious patterns go unnoticed until manual audits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38679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No Predictive Analytics</a:t>
            </a:r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</a:rPr>
              <a:t> — Cannot predict fraud before fund disbursement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421538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No Image Verification</a:t>
            </a:r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</a:rPr>
              <a:t> — Ghost assets — 98.53% works had no handover record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6285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917"/>
                </a:solidFill>
              </a:rPr>
              <a:t>No Explainable AI</a:t>
            </a:r>
            <a:pPr indent="0" marL="0">
              <a:buNone/>
            </a:pPr>
            <a:r>
              <a:rPr lang="en-US" sz="1100" dirty="0">
                <a:solidFill>
                  <a:srgbClr val="A8A29E"/>
                </a:solidFill>
              </a:rPr>
              <a:t> — No audit-ready explanation for flagged works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— An AI-powered monitoring platform with role-based dashboards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3200400"/>
          </a:xfrm>
          <a:prstGeom prst="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606040" cy="54864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Role-Based Dashboards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MP Dashboard — "MY ₹5 crore"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DA+CAG Dashboard — "MY district"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Ministry Dashboard — "ALL states"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06040" cy="3200400"/>
          </a:xfrm>
          <a:prstGeom prst="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71600"/>
            <a:ext cx="2606040" cy="54864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52044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Anomaly Detection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6616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XGBoost (supervised)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Isolation Forest (unsupervised)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66160" y="3246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SHAP explainability per alert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06040" cy="3200400"/>
          </a:xfrm>
          <a:prstGeom prst="rect">
            <a:avLst>
              <a:gd name="adj" fmla="val 28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2606040" cy="54864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1554480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📷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20574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Agency App (Proposed)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355080" y="251460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Photo upload + geotagging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55080" y="288036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AI verification (De-Fake + CLIP)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55080" y="3246120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Stage payment verification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4663440"/>
            <a:ext cx="8046720" cy="9144"/>
          </a:xfrm>
          <a:prstGeom prst="rect">
            <a:avLst/>
          </a:prstGeom>
          <a:solidFill>
            <a:srgbClr val="E7E5E3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Build: 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3 dashboards + AI detection + SHAP   </a:t>
            </a:r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|  Propose: 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IA App + AI verification   </a:t>
            </a:r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|  Future: 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eSAKSHI + satellite + citizen app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 Flow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roles, three dashboards, one AI engine</a:t>
            </a:r>
            <a:endParaRPr lang="en-US" sz="1300" dirty="0"/>
          </a:p>
        </p:txBody>
      </p:sp>
      <p:pic>
        <p:nvPicPr>
          <p:cNvPr id="4" name="Image 0" descr="C:/Users/Vaibhav/projects/hackathon_projects/sih_2026_bs/mplads/ppt_assets/screenshots/user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34440"/>
            <a:ext cx="8869680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4434840"/>
            <a:ext cx="260604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44622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4C7"/>
                </a:solidFill>
              </a:rPr>
              <a:t>MP  </a:t>
            </a:r>
            <a:pPr indent="0" marL="0">
              <a:buNone/>
            </a:pPr>
            <a:r>
              <a:rPr lang="en-US" sz="1000" i="1" dirty="0">
                <a:solidFill>
                  <a:srgbClr val="A8A29E"/>
                </a:solidFill>
              </a:rPr>
              <a:t>"What's happening with MY ₹5 crore?"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337560" y="4434840"/>
            <a:ext cx="260604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474720" y="44622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D9775"/>
                </a:solidFill>
              </a:rPr>
              <a:t>DA + CAG  </a:t>
            </a:r>
            <a:pPr indent="0" marL="0">
              <a:buNone/>
            </a:pPr>
            <a:r>
              <a:rPr lang="en-US" sz="1000" i="1" dirty="0">
                <a:solidFill>
                  <a:srgbClr val="A8A29E"/>
                </a:solidFill>
              </a:rPr>
              <a:t>"What's suspicious in MY district?"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126480" y="4434840"/>
            <a:ext cx="2606040" cy="502920"/>
          </a:xfrm>
          <a:prstGeom prst="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63640" y="446227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410C"/>
                </a:solidFill>
              </a:rPr>
              <a:t>Ministry  </a:t>
            </a:r>
            <a:pPr indent="0" marL="0">
              <a:buNone/>
            </a:pPr>
            <a:r>
              <a:rPr lang="en-US" sz="1000" i="1" dirty="0">
                <a:solidFill>
                  <a:srgbClr val="A8A29E"/>
                </a:solidFill>
              </a:rPr>
              <a:t>"What's happening across ALL states?"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AI pipeline: Data → ML → Explainability → Dashboards</a:t>
            </a:r>
            <a:endParaRPr lang="en-US" sz="1300" dirty="0"/>
          </a:p>
        </p:txBody>
      </p:sp>
      <p:pic>
        <p:nvPicPr>
          <p:cNvPr id="4" name="Image 0" descr="C:/Users/Vaibhav/projects/hackathon_projects/sih_2026_bs/mplads/ppt_assets/screenshots/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188720"/>
            <a:ext cx="886968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ML Engine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Dual-model ensemble with explainable risk scoring</a:t>
            </a:r>
            <a:endParaRPr lang="en-US" sz="1300" dirty="0"/>
          </a:p>
        </p:txBody>
      </p:sp>
      <p:pic>
        <p:nvPicPr>
          <p:cNvPr id="4" name="Image 0" descr="C:/Users/Vaibhav/projects/hackathon_projects/sih_2026_bs/mplads/ppt_assets/screenshots/ml_eng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234440"/>
            <a:ext cx="8869680" cy="3108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4348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12-Dimensional Feature Vector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31520" y="4709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cost_overrun_ratio</a:t>
            </a:r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</a:rPr>
              <a:t>  —  #1 fraud predictor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31520" y="49103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vendor_concentration</a:t>
            </a:r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</a:rPr>
              <a:t>  —  Collusion signal</a:t>
            </a:r>
            <a:endParaRPr lang="en-US" sz="800" dirty="0"/>
          </a:p>
        </p:txBody>
      </p:sp>
      <p:sp>
        <p:nvSpPr>
          <p:cNvPr id="8" name="Text 5"/>
          <p:cNvSpPr/>
          <p:nvPr/>
        </p:nvSpPr>
        <p:spPr>
          <a:xfrm>
            <a:off x="731520" y="51114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sanction_delay_days</a:t>
            </a:r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</a:rPr>
              <a:t>  —  Process violation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846320" y="470916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work_category_risk</a:t>
            </a:r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</a:rPr>
              <a:t>  —  Guideline violation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4846320" y="491032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tenure_phase</a:t>
            </a:r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</a:rPr>
              <a:t>  —  Spending rush pattern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846320" y="51114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D97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mp_utilization_rate</a:t>
            </a:r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</a:rPr>
              <a:t>  —  Underutilization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fraud patterns from CAG reports — detected by our AI engine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874520" cy="329184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554480"/>
            <a:ext cx="777240" cy="502920"/>
          </a:xfrm>
          <a:prstGeom prst="rect">
            <a:avLst>
              <a:gd name="adj" fmla="val 10909"/>
            </a:avLst>
          </a:prstGeom>
          <a:solidFill>
            <a:srgbClr val="F5F5F4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57276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340%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58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Overrun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51460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 construction sanctioned ₹12L, actual cost ₹52.8L. XGBoost flags cost_overrun_ratio &gt; 1.0 as CRITICAL.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4160520"/>
            <a:ext cx="731520" cy="274320"/>
          </a:xfrm>
          <a:prstGeom prst="rect">
            <a:avLst>
              <a:gd name="adj" fmla="val 13333"/>
            </a:avLst>
          </a:prstGeom>
          <a:solidFill>
            <a:srgbClr val="F5F5F4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COST-002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1371600"/>
            <a:ext cx="1874520" cy="329184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54680" y="1554480"/>
            <a:ext cx="777240" cy="502920"/>
          </a:xfrm>
          <a:prstGeom prst="rect">
            <a:avLst>
              <a:gd name="adj" fmla="val 10909"/>
            </a:avLst>
          </a:prstGeom>
          <a:solidFill>
            <a:srgbClr val="F5F5F4"/>
          </a:solidFill>
          <a:ln/>
        </p:spPr>
      </p:sp>
      <p:sp>
        <p:nvSpPr>
          <p:cNvPr id="13" name="Text 11"/>
          <p:cNvSpPr/>
          <p:nvPr/>
        </p:nvSpPr>
        <p:spPr>
          <a:xfrm>
            <a:off x="3154680" y="157276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7432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Collusion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743200" y="251460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vendor gets 62% of all works in a district. Isolation Forest detects abnormal concentration.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0" y="4160520"/>
            <a:ext cx="731520" cy="274320"/>
          </a:xfrm>
          <a:prstGeom prst="rect">
            <a:avLst>
              <a:gd name="adj" fmla="val 13333"/>
            </a:avLst>
          </a:prstGeom>
          <a:solidFill>
            <a:srgbClr val="F5F5F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VEND-002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663440" y="1371600"/>
            <a:ext cx="1874520" cy="329184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212080" y="1554480"/>
            <a:ext cx="777240" cy="502920"/>
          </a:xfrm>
          <a:prstGeom prst="rect">
            <a:avLst>
              <a:gd name="adj" fmla="val 10909"/>
            </a:avLst>
          </a:prstGeom>
          <a:solidFill>
            <a:srgbClr val="F5F5F4"/>
          </a:solidFill>
          <a:ln/>
        </p:spPr>
      </p:sp>
      <p:sp>
        <p:nvSpPr>
          <p:cNvPr id="20" name="Text 18"/>
          <p:cNvSpPr/>
          <p:nvPr/>
        </p:nvSpPr>
        <p:spPr>
          <a:xfrm>
            <a:off x="5212080" y="157276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006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Works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51460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road project, different IDs, different vendors. Cosine similarity &gt; 0.85 on work descriptions.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800600" y="4160520"/>
            <a:ext cx="731520" cy="274320"/>
          </a:xfrm>
          <a:prstGeom prst="rect">
            <a:avLst>
              <a:gd name="adj" fmla="val 13333"/>
            </a:avLst>
          </a:prstGeom>
          <a:solidFill>
            <a:srgbClr val="F5F5F4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DUP-001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720840" y="1371600"/>
            <a:ext cx="1874520" cy="3291840"/>
          </a:xfrm>
          <a:prstGeom prst="rect">
            <a:avLst>
              <a:gd name="adj" fmla="val 39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269480" y="1554480"/>
            <a:ext cx="777240" cy="502920"/>
          </a:xfrm>
          <a:prstGeom prst="rect">
            <a:avLst>
              <a:gd name="adj" fmla="val 10909"/>
            </a:avLst>
          </a:prstGeom>
          <a:solidFill>
            <a:srgbClr val="F5F5F4"/>
          </a:solidFill>
          <a:ln/>
        </p:spPr>
      </p:sp>
      <p:sp>
        <p:nvSpPr>
          <p:cNvPr id="27" name="Text 25"/>
          <p:cNvSpPr/>
          <p:nvPr/>
        </p:nvSpPr>
        <p:spPr>
          <a:xfrm>
            <a:off x="7269480" y="1572768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98.53%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6858000" y="21945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 Assets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0" y="2514600"/>
            <a:ext cx="1600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marked complete but no handover record. IA App would verify with photos + geotag.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858000" y="4160520"/>
            <a:ext cx="731520" cy="274320"/>
          </a:xfrm>
          <a:prstGeom prst="rect">
            <a:avLst>
              <a:gd name="adj" fmla="val 13333"/>
            </a:avLst>
          </a:prstGeom>
          <a:solidFill>
            <a:srgbClr val="F5F5F4"/>
          </a:solidFill>
          <a:ln/>
        </p:spPr>
      </p:sp>
      <p:sp>
        <p:nvSpPr>
          <p:cNvPr id="31" name="Text 29"/>
          <p:cNvSpPr/>
          <p:nvPr/>
        </p:nvSpPr>
        <p:spPr>
          <a:xfrm>
            <a:off x="6858000" y="4160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GEO-001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Prototype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dashboards with AI-powered risk scoring and SHAP explanations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160520" cy="1920240"/>
          </a:xfrm>
          <a:prstGeom prst="rect">
            <a:avLst>
              <a:gd name="adj" fmla="val 2857"/>
            </a:avLst>
          </a:prstGeom>
          <a:solidFill>
            <a:srgbClr val="F5F5F4"/>
          </a:solidFill>
          <a:ln/>
        </p:spPr>
      </p:sp>
      <p:pic>
        <p:nvPicPr>
          <p:cNvPr id="5" name="Image 0" descr="C:/Users/Vaibhav/projects/hackathon_projects/sih_2026_bs/mplads/ppt_assets/screenshots/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80160"/>
            <a:ext cx="4069080" cy="1691640"/>
          </a:xfrm>
          <a:prstGeom prst="ellipse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01752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— Role Selector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617720" y="1234440"/>
            <a:ext cx="4160520" cy="1920240"/>
          </a:xfrm>
          <a:prstGeom prst="rect">
            <a:avLst>
              <a:gd name="adj" fmla="val 2857"/>
            </a:avLst>
          </a:prstGeom>
          <a:solidFill>
            <a:srgbClr val="F5F5F4"/>
          </a:solidFill>
          <a:ln/>
        </p:spPr>
      </p:sp>
      <p:pic>
        <p:nvPicPr>
          <p:cNvPr id="8" name="Image 1" descr="C:/Users/Vaibhav/projects/hackathon_projects/sih_2026_bs/mplads/ppt_assets/screenshots/mp_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280160"/>
            <a:ext cx="4069080" cy="1691640"/>
          </a:xfrm>
          <a:prstGeom prst="ellipse">
            <a:avLst/>
          </a:prstGeom>
        </p:spPr>
      </p:pic>
      <p:sp>
        <p:nvSpPr>
          <p:cNvPr id="9" name="Text 5"/>
          <p:cNvSpPr/>
          <p:nvPr/>
        </p:nvSpPr>
        <p:spPr>
          <a:xfrm>
            <a:off x="4663440" y="301752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 Dashboard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320040" y="3017520"/>
            <a:ext cx="4160520" cy="1920240"/>
          </a:xfrm>
          <a:prstGeom prst="rect">
            <a:avLst>
              <a:gd name="adj" fmla="val 2857"/>
            </a:avLst>
          </a:prstGeom>
          <a:solidFill>
            <a:srgbClr val="F5F5F4"/>
          </a:solidFill>
          <a:ln/>
        </p:spPr>
      </p:sp>
      <p:pic>
        <p:nvPicPr>
          <p:cNvPr id="11" name="Image 2" descr="C:/Users/Vaibhav/projects/hackathon_projects/sih_2026_bs/mplads/ppt_assets/screenshots/da_cag_dash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063240"/>
            <a:ext cx="4069080" cy="1691640"/>
          </a:xfrm>
          <a:prstGeom prst="ellipse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65760" y="480060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+ CAG Dashboard</a:t>
            </a:r>
            <a:endParaRPr lang="en-US" sz="900" dirty="0"/>
          </a:p>
        </p:txBody>
      </p:sp>
      <p:sp>
        <p:nvSpPr>
          <p:cNvPr id="13" name="Shape 8"/>
          <p:cNvSpPr/>
          <p:nvPr/>
        </p:nvSpPr>
        <p:spPr>
          <a:xfrm>
            <a:off x="4617720" y="3017520"/>
            <a:ext cx="4160520" cy="1920240"/>
          </a:xfrm>
          <a:prstGeom prst="rect">
            <a:avLst>
              <a:gd name="adj" fmla="val 2857"/>
            </a:avLst>
          </a:prstGeom>
          <a:solidFill>
            <a:srgbClr val="F5F5F4"/>
          </a:solidFill>
          <a:ln/>
        </p:spPr>
      </p:sp>
      <p:pic>
        <p:nvPicPr>
          <p:cNvPr id="14" name="Image 3" descr="C:/Users/Vaibhav/projects/hackathon_projects/sih_2026_bs/mplads/ppt_assets/screenshots/ministry_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063240"/>
            <a:ext cx="4069080" cy="1691640"/>
          </a:xfrm>
          <a:prstGeom prst="ellipse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3440" y="4800600"/>
            <a:ext cx="4069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Dashboard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 Agency App — Proposed Feature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 at every payment stage — could plug into eSAKSHI portal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2606040" cy="45720"/>
          </a:xfrm>
          <a:prstGeom prst="rect">
            <a:avLst/>
          </a:prstGeom>
          <a:solidFill>
            <a:srgbClr val="0284C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508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2024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8580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Payment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progress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Photo + Geotag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54680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29E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71600"/>
            <a:ext cx="2606040" cy="45720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13" name="Text 11"/>
          <p:cNvSpPr/>
          <p:nvPr/>
        </p:nvSpPr>
        <p:spPr>
          <a:xfrm>
            <a:off x="3474720" y="1508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D97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70916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47472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Payment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Substantial progress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CLIP + Timeline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1920240"/>
            <a:ext cx="18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8A29E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126480" y="1371600"/>
            <a:ext cx="260604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26480" y="1371600"/>
            <a:ext cx="2606040" cy="45720"/>
          </a:xfrm>
          <a:prstGeom prst="rect">
            <a:avLst/>
          </a:prstGeom>
          <a:solidFill>
            <a:srgbClr val="C2410C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50876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98080" y="1463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63640" y="214884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verification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AI: 3+ photos, before/after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2918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753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 Checks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731520" y="3703320"/>
            <a:ext cx="3840480" cy="347472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</a:rPr>
              <a:t>De-Fake Model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Is this photo AI-generated?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31520" y="4114800"/>
            <a:ext cx="3840480" cy="347472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4114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Geotag Check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EXIF GPS vs work location (500m radius)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46320" y="3703320"/>
            <a:ext cx="3840480" cy="347472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7033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284C7"/>
                </a:solidFill>
              </a:rPr>
              <a:t>CLIP Matching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Does photo match work description?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4114800"/>
            <a:ext cx="3840480" cy="347472"/>
          </a:xfrm>
          <a:prstGeom prst="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7E5E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0" y="41148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2410C"/>
                </a:solidFill>
              </a:rPr>
              <a:t>Timeline Check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EXIF date vs sanction date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6D977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Team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1874520" cy="1371600"/>
          </a:xfrm>
          <a:prstGeom prst="rect">
            <a:avLst>
              <a:gd name="adj" fmla="val 5333"/>
            </a:avLst>
          </a:prstGeom>
          <a:solidFill>
            <a:srgbClr val="29252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eSAKSHI 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verification layer plugs into existing portal via API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06040" y="1005840"/>
            <a:ext cx="1874520" cy="1371600"/>
          </a:xfrm>
          <a:prstGeom prst="rect">
            <a:avLst>
              <a:gd name="adj" fmla="val 5333"/>
            </a:avLst>
          </a:prstGeom>
          <a:solidFill>
            <a:srgbClr val="292524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697480" y="1463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Verification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9748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imagery for construction progress verification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1874520" cy="1371600"/>
          </a:xfrm>
          <a:prstGeom prst="rect">
            <a:avLst>
              <a:gd name="adj" fmla="val 5333"/>
            </a:avLst>
          </a:prstGeom>
          <a:solidFill>
            <a:srgbClr val="292524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📱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754880" y="1463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App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for ground-truthing works with photo upload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20840" y="1005840"/>
            <a:ext cx="1874520" cy="1371600"/>
          </a:xfrm>
          <a:prstGeom prst="rect">
            <a:avLst>
              <a:gd name="adj" fmla="val 5333"/>
            </a:avLst>
          </a:prstGeom>
          <a:solidFill>
            <a:srgbClr val="292524"/>
          </a:solidFill>
          <a:ln/>
        </p:spPr>
      </p:sp>
      <p:sp>
        <p:nvSpPr>
          <p:cNvPr id="17" name="Text 15"/>
          <p:cNvSpPr/>
          <p:nvPr/>
        </p:nvSpPr>
        <p:spPr>
          <a:xfrm>
            <a:off x="6720840" y="109728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812280" y="146304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Federated Learning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12280" y="17373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A8A2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Privacy-preserving cross-state fraud pattern analysis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26517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1520" y="306324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ML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XGBoost, Isolation Forest, SHAP, feature engineering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" y="33558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Backend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FastAPI, database, data pipeline, API integration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1520" y="364845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Frontend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Next.js dashboards, maps, charts, animations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" y="394106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Design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UI/UX, login page, India map, presentation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1520" y="423367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D9775"/>
                </a:solidFill>
              </a:rPr>
              <a:t>QA Lead</a:t>
            </a:r>
            <a:pPr indent="0" marL="0">
              <a:buNone/>
            </a:pPr>
            <a:r>
              <a:rPr lang="en-US" sz="1000" dirty="0">
                <a:solidFill>
                  <a:srgbClr val="A8A29E"/>
                </a:solidFill>
              </a:rPr>
              <a:t>  —  Testing, demo data, fallbacks, deployment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36-Hour Hackathon Timeline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846320"/>
            <a:ext cx="13716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28" name="Text 26"/>
          <p:cNvSpPr/>
          <p:nvPr/>
        </p:nvSpPr>
        <p:spPr>
          <a:xfrm>
            <a:off x="548640" y="4846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011680" y="4846320"/>
            <a:ext cx="18288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30" name="Text 28"/>
          <p:cNvSpPr/>
          <p:nvPr/>
        </p:nvSpPr>
        <p:spPr>
          <a:xfrm>
            <a:off x="2011680" y="4846320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Engine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931920" y="4846320"/>
            <a:ext cx="22860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0" y="484632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309360" y="4846320"/>
            <a:ext cx="13716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34" name="Text 32"/>
          <p:cNvSpPr/>
          <p:nvPr/>
        </p:nvSpPr>
        <p:spPr>
          <a:xfrm>
            <a:off x="6309360" y="4846320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772400" y="4846320"/>
            <a:ext cx="914400" cy="201168"/>
          </a:xfrm>
          <a:prstGeom prst="rect">
            <a:avLst>
              <a:gd name="adj" fmla="val 13636"/>
            </a:avLst>
          </a:prstGeom>
          <a:solidFill>
            <a:srgbClr val="6D9775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0" y="4846320"/>
            <a:ext cx="914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C19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Polish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2026-09-14T22:07:01Z</dcterms:created>
  <dcterms:modified xsi:type="dcterms:W3CDTF">2026-09-14T22:07:01Z</dcterms:modified>
</cp:coreProperties>
</file>